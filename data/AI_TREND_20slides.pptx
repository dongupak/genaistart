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trend_assets/cover_visual.png">    </p:cNvPr>
          <p:cNvPicPr>
            <a:picLocks noChangeAspect="1"/>
          </p:cNvPicPr>
          <p:nvPr/>
        </p:nvPicPr>
        <p:blipFill>
          <a:blip r:embed="rId1"/>
          <a:srcRect l="0" r="0" t="1391" b="1391"/>
          <a:stretch/>
        </p:blipFill>
        <p:spPr>
          <a:xfrm>
            <a:off x="7955280" y="0"/>
            <a:ext cx="423367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9601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6FB7"/>
                </a:solidFill>
              </a:rPr>
              <a:t>AI TREND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658368" y="1627632"/>
            <a:ext cx="6309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2A44"/>
                </a:solidFill>
              </a:rPr>
              <a:t>해외 AI 정책·기술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F2A44"/>
                </a:solidFill>
              </a:rPr>
              <a:t>동향 조사 요약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694944" y="3319272"/>
            <a:ext cx="4617720" cy="0"/>
          </a:xfrm>
          <a:prstGeom prst="line">
            <a:avLst/>
          </a:prstGeom>
          <a:noFill/>
          <a:ln w="26670">
            <a:solidFill>
              <a:srgbClr val="2C6FB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4944" y="372160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6FB7"/>
                </a:solidFill>
              </a:rPr>
              <a:t>•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87552" y="3703320"/>
            <a:ext cx="5559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동향 조사 기간: 2026.2.1. ~ 2.19.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94944" y="416052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6FB7"/>
                </a:solidFill>
              </a:rPr>
              <a:t>•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87552" y="4142232"/>
            <a:ext cx="5559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범위: 주요 저널·잡지 10개 동향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94944" y="459943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6FB7"/>
                </a:solidFill>
              </a:rPr>
              <a:t>•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87552" y="4581144"/>
            <a:ext cx="5559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분야: 정책 동향 · 기술 동향 · 윤리 동향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94944" y="5989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공공기관 보고용 요약 슬라이드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C6F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개요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09960" cy="0"/>
          </a:xfrm>
          <a:prstGeom prst="line">
            <a:avLst/>
          </a:prstGeom>
          <a:noFill/>
          <a:ln w="12700">
            <a:solidFill>
              <a:srgbClr val="D6DA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82528" y="6355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02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AI 정책·기술 동향 요약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4944" y="14173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</a:rPr>
              <a:t>조사 설계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" y="189280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C6FB7"/>
                </a:solidFill>
              </a:rPr>
              <a:t>•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51560" y="1874520"/>
            <a:ext cx="59253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Nature News, Science News, MIT Technology Review 등 주요 매체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8952" y="235000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C6FB7"/>
                </a:solidFill>
              </a:rPr>
              <a:t>•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51560" y="2331720"/>
            <a:ext cx="59253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기간: 2026년 2월 1일 ~ 2월 19일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8952" y="280720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C6FB7"/>
                </a:solidFill>
              </a:rPr>
              <a:t>•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51560" y="2788920"/>
            <a:ext cx="59253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범위: 해외 AI 정책·기술·윤리 관련 10개 이슈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8952" y="326440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C6FB7"/>
                </a:solidFill>
              </a:rPr>
              <a:t>•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51560" y="3246120"/>
            <a:ext cx="59253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 AI 생태계 변화와 정책 대응 쟁점 파악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360920" y="166420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6FB7"/>
                </a:solidFill>
              </a:rPr>
              <a:t>10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7223760" y="232257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2"/>
                </a:solidFill>
              </a:rPr>
              <a:t>핵심 동향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26880" y="166420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9EAA"/>
                </a:solidFill>
              </a:rPr>
              <a:t>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189720" y="232257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2"/>
                </a:solidFill>
              </a:rPr>
              <a:t>분석 분야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60920" y="324612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2579F"/>
                </a:solidFill>
              </a:rPr>
              <a:t>19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223760" y="39044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2"/>
                </a:solidFill>
              </a:rPr>
              <a:t>조사 일수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0" y="324612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6FB7"/>
                </a:solidFill>
              </a:rPr>
              <a:t>3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9189720" y="39044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2"/>
                </a:solidFill>
              </a:rPr>
              <a:t>주요 매체군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60920" y="4764024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C6FB7"/>
                </a:solidFill>
              </a:rPr>
              <a:t>–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7607808" y="4754880"/>
            <a:ext cx="3410712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정책: 학술 검증·오픈소스 경쟁·신약 IP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7360920" y="5184648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C6FB7"/>
                </a:solidFill>
              </a:rPr>
              <a:t>–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7607808" y="5175504"/>
            <a:ext cx="3410712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기술: 연구 AI·양자보안·자율실험실·장기저장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7360920" y="5605272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C6FB7"/>
                </a:solidFill>
              </a:rPr>
              <a:t>–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7607808" y="5596128"/>
            <a:ext cx="3410712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윤리: 사이버 공격·도덕성 평가·예측 통제</a:t>
            </a:r>
            <a:endParaRPr lang="en-US" sz="12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C6F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요약: AI 확산의 세 가지 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09960" cy="0"/>
          </a:xfrm>
          <a:prstGeom prst="line">
            <a:avLst/>
          </a:prstGeom>
          <a:noFill/>
          <a:ln w="12700">
            <a:solidFill>
              <a:srgbClr val="D6DA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82528" y="6355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03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AI 정책·기술 동향 요약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6FB7"/>
                </a:solidFill>
              </a:rPr>
              <a:t>① 생산성 확대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4672" y="1883664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C6FB7"/>
                </a:solidFill>
              </a:rPr>
              <a:t>–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51560" y="1874520"/>
            <a:ext cx="3044952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작성·문헌 분석·실험 최적화 자동화 가속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4672" y="2240280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C6FB7"/>
                </a:solidFill>
              </a:rPr>
              <a:t>–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51560" y="2231136"/>
            <a:ext cx="3044952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효율 향상과 검증 부담이 동시에 증가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480560" y="14173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9EAA"/>
                </a:solidFill>
              </a:rPr>
              <a:t>② 생태계 재편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07992" y="1883664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9EAA"/>
                </a:solidFill>
              </a:rPr>
              <a:t>–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754880" y="1874520"/>
            <a:ext cx="3044952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중국 오픈웨이트 모델의 글로벌 확산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07992" y="2240280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9EAA"/>
                </a:solidFill>
              </a:rPr>
              <a:t>–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754880" y="2231136"/>
            <a:ext cx="3044952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저비용 프런티어급 모델이 개발 표준에 영향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092440" y="14173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2579F"/>
                </a:solidFill>
              </a:rPr>
              <a:t>③ 통제·책임 쟁점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119872" y="1883664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2579F"/>
                </a:solidFill>
              </a:rPr>
              <a:t>–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66760" y="1874520"/>
            <a:ext cx="3090672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슬롭·사이버 범죄·도덕성 평가 문제 부상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119872" y="2240280"/>
            <a:ext cx="146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2579F"/>
                </a:solidFill>
              </a:rPr>
              <a:t>–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66760" y="2231136"/>
            <a:ext cx="3090672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법·제도·검증 체계의 선제적 정비 필요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77240" y="41605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종합 판단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463600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24" name="Text 22"/>
          <p:cNvSpPr/>
          <p:nvPr/>
        </p:nvSpPr>
        <p:spPr>
          <a:xfrm>
            <a:off x="1069848" y="4617720"/>
            <a:ext cx="1022299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“도구”를 넘어 연구·산업·사회 시스템의 운영 방식 자체를 바꾸는 단계로 진입</a:t>
            </a:r>
            <a:endParaRPr lang="en-US" sz="1820" dirty="0"/>
          </a:p>
        </p:txBody>
      </p:sp>
      <p:sp>
        <p:nvSpPr>
          <p:cNvPr id="25" name="Text 23"/>
          <p:cNvSpPr/>
          <p:nvPr/>
        </p:nvSpPr>
        <p:spPr>
          <a:xfrm>
            <a:off x="777240" y="5111496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26" name="Text 24"/>
          <p:cNvSpPr/>
          <p:nvPr/>
        </p:nvSpPr>
        <p:spPr>
          <a:xfrm>
            <a:off x="1069848" y="5093208"/>
            <a:ext cx="1022299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확대와 함께 검증·보안·책임·거버넌스 문제가 핵심 정책 과제로 부상</a:t>
            </a:r>
            <a:endParaRPr lang="en-US" sz="1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C6F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구성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09960" cy="0"/>
          </a:xfrm>
          <a:prstGeom prst="line">
            <a:avLst/>
          </a:prstGeom>
          <a:noFill/>
          <a:ln w="12700">
            <a:solidFill>
              <a:srgbClr val="D6DA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82528" y="6355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04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AI 정책·기술 동향 요약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6FB7"/>
                </a:solidFill>
              </a:rPr>
              <a:t>Ⅰ 정책 동향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063240" y="1600200"/>
            <a:ext cx="640080" cy="0"/>
          </a:xfrm>
          <a:prstGeom prst="line">
            <a:avLst/>
          </a:prstGeom>
          <a:noFill/>
          <a:ln w="19050">
            <a:solidFill>
              <a:srgbClr val="2C6F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144475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AI 슬롭 확산 / 중국 오픈소스 AI / 신약 IP 이슈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9EAA"/>
                </a:solidFill>
              </a:rPr>
              <a:t>Ⅱ 기술 동향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063240" y="2743200"/>
            <a:ext cx="640080" cy="0"/>
          </a:xfrm>
          <a:prstGeom prst="line">
            <a:avLst/>
          </a:prstGeom>
          <a:noFill/>
          <a:ln w="19050">
            <a:solidFill>
              <a:srgbClr val="1F9E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258775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OpenScholar / DI-QKD / 자율 실험실 / Project Silica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2579F"/>
                </a:solidFill>
              </a:rPr>
              <a:t>Ⅲ 윤리 동향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063240" y="3886200"/>
            <a:ext cx="640080" cy="0"/>
          </a:xfrm>
          <a:prstGeom prst="line">
            <a:avLst/>
          </a:prstGeom>
          <a:noFill/>
          <a:ln w="19050">
            <a:solidFill>
              <a:srgbClr val="9257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373075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AI 사이버 공격 / LLM 도덕성 평가 / 알고리즘 예측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4846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</a:rPr>
              <a:t>Ⅳ 종합 시사점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063240" y="5029200"/>
            <a:ext cx="640080" cy="0"/>
          </a:xfrm>
          <a:prstGeom prst="line">
            <a:avLst/>
          </a:prstGeom>
          <a:noFill/>
          <a:ln w="19050">
            <a:solidFill>
              <a:srgbClr val="1F2A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487375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정책 대응 방향 / 핵심 결론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5806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문장 형식: 핵심어 중심 개조식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" y="9601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6FB7"/>
                </a:solidFill>
              </a:rPr>
              <a:t>PART Ⅰ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49808" y="187452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</a:rPr>
              <a:t>정책 동향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68096" y="2706624"/>
            <a:ext cx="5120640" cy="0"/>
          </a:xfrm>
          <a:prstGeom prst="line">
            <a:avLst/>
          </a:prstGeom>
          <a:noFill/>
          <a:ln w="27940">
            <a:solidFill>
              <a:srgbClr val="2C6F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3063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</a:rPr>
              <a:t>학술 검증 체계, 글로벌 AI 생태계, 지식재산권 대응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082528" y="6355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C6F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POLICY 01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슬롭 확산: 학술 생태계의 검증 위기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09960" cy="0"/>
          </a:xfrm>
          <a:prstGeom prst="line">
            <a:avLst/>
          </a:prstGeom>
          <a:noFill/>
          <a:ln w="12700">
            <a:solidFill>
              <a:srgbClr val="D6DA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82528" y="6355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06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AI 정책·기술 동향 요약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" y="143560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1133856" y="1417320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기반 논문 작성으로 연구 생산성과 투고량 동시 급증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841248" y="196596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0" name="Text 8"/>
          <p:cNvSpPr/>
          <p:nvPr/>
        </p:nvSpPr>
        <p:spPr>
          <a:xfrm>
            <a:off x="1133856" y="1947672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미수행 논문·허위 인용·100% AI 작성 논문 등 저품질 콘텐츠 확산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841248" y="249631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1133856" y="2478024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ICML 투고량 급증 등 컴퓨터 과학 분야의 동료평가 부담 가중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841248" y="302666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4" name="Text 12"/>
          <p:cNvSpPr/>
          <p:nvPr/>
        </p:nvSpPr>
        <p:spPr>
          <a:xfrm>
            <a:off x="1133856" y="3008376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초록·본문 훑어보기 방식만으로는 AI 슬롭 식별 한계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841248" y="3557016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6" name="Text 14"/>
          <p:cNvSpPr/>
          <p:nvPr/>
        </p:nvSpPr>
        <p:spPr>
          <a:xfrm>
            <a:off x="1133856" y="3538728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학술 검증 시스템의 실존적 위협으로 평가</a:t>
            </a:r>
            <a:endParaRPr lang="en-US" sz="1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C6F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POLICY 01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슬롭 대응: 심사 체계의 재설계 필요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09960" cy="0"/>
          </a:xfrm>
          <a:prstGeom prst="line">
            <a:avLst/>
          </a:prstGeom>
          <a:noFill/>
          <a:ln w="12700">
            <a:solidFill>
              <a:srgbClr val="D6DA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82528" y="6355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07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AI 정책·기술 동향 요약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" y="143560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1133856" y="1417320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투고 비용 부과 및 리뷰어 보상 체계 검토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841248" y="196596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0" name="Text 8"/>
          <p:cNvSpPr/>
          <p:nvPr/>
        </p:nvSpPr>
        <p:spPr>
          <a:xfrm>
            <a:off x="1133856" y="1947672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투고 차단과 신규 투고자 자격 심사 강화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841248" y="249631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1133856" y="2478024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사용 정책 위반 여부 전수 검사 확대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841248" y="302666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4" name="Text 12"/>
          <p:cNvSpPr/>
          <p:nvPr/>
        </p:nvSpPr>
        <p:spPr>
          <a:xfrm>
            <a:off x="1133856" y="3008376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사용 허용 트랙과 인간 리뷰 트랙의 분리 운영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841248" y="3557016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6" name="Text 14"/>
          <p:cNvSpPr/>
          <p:nvPr/>
        </p:nvSpPr>
        <p:spPr>
          <a:xfrm>
            <a:off x="1133856" y="3538728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생성·AI 리뷰 기반 독립 학술 생태계 실험 등장</a:t>
            </a:r>
            <a:endParaRPr lang="en-US" sz="1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F9E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POLICY 02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중국 오픈소스 AI: 글로벌 모델 생태계 재편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09960" cy="0"/>
          </a:xfrm>
          <a:prstGeom prst="line">
            <a:avLst/>
          </a:prstGeom>
          <a:noFill/>
          <a:ln w="12700">
            <a:solidFill>
              <a:srgbClr val="D6DA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82528" y="6355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08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AI 정책·기술 동향 요약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49808" y="143560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2C6FB7"/>
                </a:solidFill>
              </a:rPr>
              <a:t>•</a:t>
            </a:r>
            <a:endParaRPr lang="en-US" sz="1720" dirty="0"/>
          </a:p>
        </p:txBody>
      </p:sp>
      <p:sp>
        <p:nvSpPr>
          <p:cNvPr id="8" name="Text 6"/>
          <p:cNvSpPr/>
          <p:nvPr/>
        </p:nvSpPr>
        <p:spPr>
          <a:xfrm>
            <a:off x="1042416" y="1417320"/>
            <a:ext cx="53766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DeepSeek R1 이후 중국 AI 산업의 전환점 형성</a:t>
            </a:r>
            <a:endParaRPr lang="en-US" sz="1720" dirty="0"/>
          </a:p>
        </p:txBody>
      </p:sp>
      <p:sp>
        <p:nvSpPr>
          <p:cNvPr id="9" name="Text 7"/>
          <p:cNvSpPr/>
          <p:nvPr/>
        </p:nvSpPr>
        <p:spPr>
          <a:xfrm>
            <a:off x="749808" y="1911096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2C6FB7"/>
                </a:solidFill>
              </a:rPr>
              <a:t>•</a:t>
            </a:r>
            <a:endParaRPr lang="en-US" sz="1720" dirty="0"/>
          </a:p>
        </p:txBody>
      </p:sp>
      <p:sp>
        <p:nvSpPr>
          <p:cNvPr id="10" name="Text 8"/>
          <p:cNvSpPr/>
          <p:nvPr/>
        </p:nvSpPr>
        <p:spPr>
          <a:xfrm>
            <a:off x="1042416" y="1892808"/>
            <a:ext cx="53766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오픈웨이트 정책과 가격 경쟁력을 앞세운 글로벌 확산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749808" y="238658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2C6FB7"/>
                </a:solidFill>
              </a:rPr>
              <a:t>•</a:t>
            </a:r>
            <a:endParaRPr lang="en-US" sz="1720" dirty="0"/>
          </a:p>
        </p:txBody>
      </p:sp>
      <p:sp>
        <p:nvSpPr>
          <p:cNvPr id="12" name="Text 10"/>
          <p:cNvSpPr/>
          <p:nvPr/>
        </p:nvSpPr>
        <p:spPr>
          <a:xfrm>
            <a:off x="1042416" y="2368296"/>
            <a:ext cx="53766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Moonshot AI·DeepSeek 등 미국 선도 모델 성능에 근접</a:t>
            </a:r>
            <a:endParaRPr lang="en-US" sz="1720" dirty="0"/>
          </a:p>
        </p:txBody>
      </p:sp>
      <p:sp>
        <p:nvSpPr>
          <p:cNvPr id="13" name="Text 11"/>
          <p:cNvSpPr/>
          <p:nvPr/>
        </p:nvSpPr>
        <p:spPr>
          <a:xfrm>
            <a:off x="749808" y="286207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2C6FB7"/>
                </a:solidFill>
              </a:rPr>
              <a:t>•</a:t>
            </a:r>
            <a:endParaRPr lang="en-US" sz="1720" dirty="0"/>
          </a:p>
        </p:txBody>
      </p:sp>
      <p:sp>
        <p:nvSpPr>
          <p:cNvPr id="14" name="Text 12"/>
          <p:cNvSpPr/>
          <p:nvPr/>
        </p:nvSpPr>
        <p:spPr>
          <a:xfrm>
            <a:off x="1042416" y="2843784"/>
            <a:ext cx="53766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 기반 파생 모델 증가와 허깅페이스 생태계 점유 확대</a:t>
            </a:r>
            <a:endParaRPr lang="en-US" sz="1720" dirty="0"/>
          </a:p>
        </p:txBody>
      </p:sp>
      <p:sp>
        <p:nvSpPr>
          <p:cNvPr id="15" name="Text 13"/>
          <p:cNvSpPr/>
          <p:nvPr/>
        </p:nvSpPr>
        <p:spPr>
          <a:xfrm>
            <a:off x="749808" y="333756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2C6FB7"/>
                </a:solidFill>
              </a:rPr>
              <a:t>•</a:t>
            </a:r>
            <a:endParaRPr lang="en-US" sz="1720" dirty="0"/>
          </a:p>
        </p:txBody>
      </p:sp>
      <p:sp>
        <p:nvSpPr>
          <p:cNvPr id="16" name="Text 14"/>
          <p:cNvSpPr/>
          <p:nvPr/>
        </p:nvSpPr>
        <p:spPr>
          <a:xfrm>
            <a:off x="1042416" y="3319272"/>
            <a:ext cx="53766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레이어 수출을 통한 기술 표준 설정 가능성 확대</a:t>
            </a:r>
            <a:endParaRPr lang="en-US" sz="1720" dirty="0"/>
          </a:p>
        </p:txBody>
      </p:sp>
      <p:pic>
        <p:nvPicPr>
          <p:cNvPr id="17" name="Image 0" descr="/mnt/data/ai_trend_assets/china_ai.png">    </p:cNvPr>
          <p:cNvPicPr>
            <a:picLocks noChangeAspect="1"/>
          </p:cNvPicPr>
          <p:nvPr/>
        </p:nvPicPr>
        <p:blipFill>
          <a:blip r:embed="rId1"/>
          <a:srcRect l="21510" r="21510" t="0" b="0"/>
          <a:stretch/>
        </p:blipFill>
        <p:spPr>
          <a:xfrm>
            <a:off x="6995160" y="1417320"/>
            <a:ext cx="4434840" cy="29718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995160" y="4489704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보고서 수록 이미지 기반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C6F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POLICY 03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신약 개발: IP와 계약 전략의 중요성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09960" cy="0"/>
          </a:xfrm>
          <a:prstGeom prst="line">
            <a:avLst/>
          </a:prstGeom>
          <a:noFill/>
          <a:ln w="12700">
            <a:solidFill>
              <a:srgbClr val="D6DA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82528" y="6355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09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AI 정책·기술 동향 요약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" y="143560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1133856" y="1417320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후보 물질 발굴 효율 향상과 법적 리스크 동시 확대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841248" y="196596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0" name="Text 8"/>
          <p:cNvSpPr/>
          <p:nvPr/>
        </p:nvSpPr>
        <p:spPr>
          <a:xfrm>
            <a:off x="1133856" y="1947672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 판례와 USPTO 지침: AI는 발명자가 아닌 고도화된 도구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841248" y="249631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1133856" y="2478024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인간의 창작적 기여가 불명확할 경우 특허 무효화 위험 존재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841248" y="302666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4" name="Text 12"/>
          <p:cNvSpPr/>
          <p:nvPr/>
        </p:nvSpPr>
        <p:spPr>
          <a:xfrm>
            <a:off x="1133856" y="3008376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산출물 로그보다 인간의 착상·판단 과정을 연구노트에 명시 필요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841248" y="3557016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6" name="Text 14"/>
          <p:cNvSpPr/>
          <p:nvPr/>
        </p:nvSpPr>
        <p:spPr>
          <a:xfrm>
            <a:off x="1133856" y="3538728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SaaS 계약 구조와 권리 양도 조항을 통한 리스크 헤징 필요</a:t>
            </a:r>
            <a:endParaRPr lang="en-US" sz="1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" y="9601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9EAA"/>
                </a:solidFill>
              </a:rPr>
              <a:t>PART Ⅱ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49808" y="187452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</a:rPr>
              <a:t>기술 동향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68096" y="2706624"/>
            <a:ext cx="5120640" cy="0"/>
          </a:xfrm>
          <a:prstGeom prst="line">
            <a:avLst/>
          </a:prstGeom>
          <a:noFill/>
          <a:ln w="27940">
            <a:solidFill>
              <a:srgbClr val="1F9E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3063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</a:rPr>
              <a:t>연구 자동화, 양자보안, 바이오 실험, 장기 데이터 저장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082528" y="6355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F9E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04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OpenScholar: 문헌 분석 특화 오픈소스 AI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09960" cy="0"/>
          </a:xfrm>
          <a:prstGeom prst="line">
            <a:avLst/>
          </a:prstGeom>
          <a:noFill/>
          <a:ln w="12700">
            <a:solidFill>
              <a:srgbClr val="D6DA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82528" y="6355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11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AI 정책·기술 동향 요약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" y="143560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1133856" y="1417320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400만 건 이상 증가하는 학술 문헌에 대응하기 위한 연구 AI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841248" y="196596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0" name="Text 8"/>
          <p:cNvSpPr/>
          <p:nvPr/>
        </p:nvSpPr>
        <p:spPr>
          <a:xfrm>
            <a:off x="1133856" y="1947672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4,500만 건 오픈 액세스 논문 기반 다수 문헌 종합 분석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841248" y="249631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1133856" y="2478024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과학 질의응답 정확도 51%로 GPT-4o 45% 상회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841248" y="302666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4" name="Text 12"/>
          <p:cNvSpPr/>
          <p:nvPr/>
        </p:nvSpPr>
        <p:spPr>
          <a:xfrm>
            <a:off x="1133856" y="3008376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비평과 반복 개선으로 허위 레퍼런스 생성 억제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841248" y="3557016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6" name="Text 14"/>
          <p:cNvSpPr/>
          <p:nvPr/>
        </p:nvSpPr>
        <p:spPr>
          <a:xfrm>
            <a:off x="1133856" y="3538728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코드와 학습 데이터 공개를 통한 검증 가능성 강화</a:t>
            </a:r>
            <a:endParaRPr lang="en-US" sz="1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F9E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05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DI-QKD: 도시 규모 양자 보안 통신 실증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09960" cy="0"/>
          </a:xfrm>
          <a:prstGeom prst="line">
            <a:avLst/>
          </a:prstGeom>
          <a:noFill/>
          <a:ln w="12700">
            <a:solidFill>
              <a:srgbClr val="D6DA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82528" y="6355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AI 정책·기술 동향 요약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49808" y="143560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2C6FB7"/>
                </a:solidFill>
              </a:rPr>
              <a:t>•</a:t>
            </a:r>
            <a:endParaRPr lang="en-US" sz="1720" dirty="0"/>
          </a:p>
        </p:txBody>
      </p:sp>
      <p:sp>
        <p:nvSpPr>
          <p:cNvPr id="8" name="Text 6"/>
          <p:cNvSpPr/>
          <p:nvPr/>
        </p:nvSpPr>
        <p:spPr>
          <a:xfrm>
            <a:off x="1042416" y="1417320"/>
            <a:ext cx="53766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강력한 양자 컴퓨터에 대비한 차세대 보안 통신 필요성 증대</a:t>
            </a:r>
            <a:endParaRPr lang="en-US" sz="1720" dirty="0"/>
          </a:p>
        </p:txBody>
      </p:sp>
      <p:sp>
        <p:nvSpPr>
          <p:cNvPr id="9" name="Text 7"/>
          <p:cNvSpPr/>
          <p:nvPr/>
        </p:nvSpPr>
        <p:spPr>
          <a:xfrm>
            <a:off x="749808" y="1911096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2C6FB7"/>
                </a:solidFill>
              </a:rPr>
              <a:t>•</a:t>
            </a:r>
            <a:endParaRPr lang="en-US" sz="1720" dirty="0"/>
          </a:p>
        </p:txBody>
      </p:sp>
      <p:sp>
        <p:nvSpPr>
          <p:cNvPr id="10" name="Text 8"/>
          <p:cNvSpPr/>
          <p:nvPr/>
        </p:nvSpPr>
        <p:spPr>
          <a:xfrm>
            <a:off x="1042416" y="1892808"/>
            <a:ext cx="53766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 독립 양자 키 분배를 11km 거리에서 시연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749808" y="238658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2C6FB7"/>
                </a:solidFill>
              </a:rPr>
              <a:t>•</a:t>
            </a:r>
            <a:endParaRPr lang="en-US" sz="1720" dirty="0"/>
          </a:p>
        </p:txBody>
      </p:sp>
      <p:sp>
        <p:nvSpPr>
          <p:cNvPr id="12" name="Text 10"/>
          <p:cNvSpPr/>
          <p:nvPr/>
        </p:nvSpPr>
        <p:spPr>
          <a:xfrm>
            <a:off x="1042416" y="2368296"/>
            <a:ext cx="53766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신뢰성보다 양자 얽힘의 물리 법칙에 기반한 보안 확보</a:t>
            </a:r>
            <a:endParaRPr lang="en-US" sz="1720" dirty="0"/>
          </a:p>
        </p:txBody>
      </p:sp>
      <p:sp>
        <p:nvSpPr>
          <p:cNvPr id="13" name="Text 11"/>
          <p:cNvSpPr/>
          <p:nvPr/>
        </p:nvSpPr>
        <p:spPr>
          <a:xfrm>
            <a:off x="749808" y="286207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2C6FB7"/>
                </a:solidFill>
              </a:rPr>
              <a:t>•</a:t>
            </a:r>
            <a:endParaRPr lang="en-US" sz="1720" dirty="0"/>
          </a:p>
        </p:txBody>
      </p:sp>
      <p:sp>
        <p:nvSpPr>
          <p:cNvPr id="14" name="Text 12"/>
          <p:cNvSpPr/>
          <p:nvPr/>
        </p:nvSpPr>
        <p:spPr>
          <a:xfrm>
            <a:off x="1042416" y="2843784"/>
            <a:ext cx="53766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26일 연속 데이터 수집을 통한 통계적 유의성 입증</a:t>
            </a:r>
            <a:endParaRPr lang="en-US" sz="1720" dirty="0"/>
          </a:p>
        </p:txBody>
      </p:sp>
      <p:sp>
        <p:nvSpPr>
          <p:cNvPr id="15" name="Text 13"/>
          <p:cNvSpPr/>
          <p:nvPr/>
        </p:nvSpPr>
        <p:spPr>
          <a:xfrm>
            <a:off x="749808" y="333756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2C6FB7"/>
                </a:solidFill>
              </a:rPr>
              <a:t>•</a:t>
            </a:r>
            <a:endParaRPr lang="en-US" sz="1720" dirty="0"/>
          </a:p>
        </p:txBody>
      </p:sp>
      <p:sp>
        <p:nvSpPr>
          <p:cNvPr id="16" name="Text 14"/>
          <p:cNvSpPr/>
          <p:nvPr/>
        </p:nvSpPr>
        <p:spPr>
          <a:xfrm>
            <a:off x="1042416" y="3319272"/>
            <a:ext cx="53766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상용화까지 고비용·저속도·시스템 복잡성 해결 필요</a:t>
            </a:r>
            <a:endParaRPr lang="en-US" sz="1720" dirty="0"/>
          </a:p>
        </p:txBody>
      </p:sp>
      <p:pic>
        <p:nvPicPr>
          <p:cNvPr id="17" name="Image 0" descr="/mnt/data/ai_trend_assets/quantum_net.png">    </p:cNvPr>
          <p:cNvPicPr>
            <a:picLocks noChangeAspect="1"/>
          </p:cNvPicPr>
          <p:nvPr/>
        </p:nvPicPr>
        <p:blipFill>
          <a:blip r:embed="rId1"/>
          <a:srcRect l="17398" r="17398" t="0" b="0"/>
          <a:stretch/>
        </p:blipFill>
        <p:spPr>
          <a:xfrm>
            <a:off x="6995160" y="1417320"/>
            <a:ext cx="4434840" cy="29718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995160" y="4489704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보고서 수록 이미지 기반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F9E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06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자율 실험실: 단백질 합성 최적화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09960" cy="0"/>
          </a:xfrm>
          <a:prstGeom prst="line">
            <a:avLst/>
          </a:prstGeom>
          <a:noFill/>
          <a:ln w="12700">
            <a:solidFill>
              <a:srgbClr val="D6DA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82528" y="6355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13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AI 정책·기술 동향 요약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49808" y="143560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2C6FB7"/>
                </a:solidFill>
              </a:rPr>
              <a:t>•</a:t>
            </a:r>
            <a:endParaRPr lang="en-US" sz="1720" dirty="0"/>
          </a:p>
        </p:txBody>
      </p:sp>
      <p:sp>
        <p:nvSpPr>
          <p:cNvPr id="8" name="Text 6"/>
          <p:cNvSpPr/>
          <p:nvPr/>
        </p:nvSpPr>
        <p:spPr>
          <a:xfrm>
            <a:off x="1042416" y="1417320"/>
            <a:ext cx="53766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OpenAI와 Ginkgo Bioworks의 자율 실험실 시스템 개발</a:t>
            </a:r>
            <a:endParaRPr lang="en-US" sz="1720" dirty="0"/>
          </a:p>
        </p:txBody>
      </p:sp>
      <p:sp>
        <p:nvSpPr>
          <p:cNvPr id="9" name="Text 7"/>
          <p:cNvSpPr/>
          <p:nvPr/>
        </p:nvSpPr>
        <p:spPr>
          <a:xfrm>
            <a:off x="749808" y="1911096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2C6FB7"/>
                </a:solidFill>
              </a:rPr>
              <a:t>•</a:t>
            </a:r>
            <a:endParaRPr lang="en-US" sz="1720" dirty="0"/>
          </a:p>
        </p:txBody>
      </p:sp>
      <p:sp>
        <p:nvSpPr>
          <p:cNvPr id="10" name="Text 8"/>
          <p:cNvSpPr/>
          <p:nvPr/>
        </p:nvSpPr>
        <p:spPr>
          <a:xfrm>
            <a:off x="1042416" y="1892808"/>
            <a:ext cx="53766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GPT-5 기반 AI 과학자와 자동화 로봇의 결합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749808" y="238658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2C6FB7"/>
                </a:solidFill>
              </a:rPr>
              <a:t>•</a:t>
            </a:r>
            <a:endParaRPr lang="en-US" sz="1720" dirty="0"/>
          </a:p>
        </p:txBody>
      </p:sp>
      <p:sp>
        <p:nvSpPr>
          <p:cNvPr id="12" name="Text 10"/>
          <p:cNvSpPr/>
          <p:nvPr/>
        </p:nvSpPr>
        <p:spPr>
          <a:xfrm>
            <a:off x="1042416" y="2368296"/>
            <a:ext cx="53766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연구 대비 대규모 실험 조건 탐색과 비용 절감 성과</a:t>
            </a:r>
            <a:endParaRPr lang="en-US" sz="1720" dirty="0"/>
          </a:p>
        </p:txBody>
      </p:sp>
      <p:sp>
        <p:nvSpPr>
          <p:cNvPr id="13" name="Text 11"/>
          <p:cNvSpPr/>
          <p:nvPr/>
        </p:nvSpPr>
        <p:spPr>
          <a:xfrm>
            <a:off x="749808" y="286207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2C6FB7"/>
                </a:solidFill>
              </a:rPr>
              <a:t>•</a:t>
            </a:r>
            <a:endParaRPr lang="en-US" sz="1720" dirty="0"/>
          </a:p>
        </p:txBody>
      </p:sp>
      <p:sp>
        <p:nvSpPr>
          <p:cNvPr id="14" name="Text 12"/>
          <p:cNvSpPr/>
          <p:nvPr/>
        </p:nvSpPr>
        <p:spPr>
          <a:xfrm>
            <a:off x="1042416" y="2843784"/>
            <a:ext cx="53766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데이터가 명확한 최적화 실험에 강점</a:t>
            </a:r>
            <a:endParaRPr lang="en-US" sz="1720" dirty="0"/>
          </a:p>
        </p:txBody>
      </p:sp>
      <p:sp>
        <p:nvSpPr>
          <p:cNvPr id="15" name="Text 13"/>
          <p:cNvSpPr/>
          <p:nvPr/>
        </p:nvSpPr>
        <p:spPr>
          <a:xfrm>
            <a:off x="749808" y="333756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2C6FB7"/>
                </a:solidFill>
              </a:rPr>
              <a:t>•</a:t>
            </a:r>
            <a:endParaRPr lang="en-US" sz="1720" dirty="0"/>
          </a:p>
        </p:txBody>
      </p:sp>
      <p:sp>
        <p:nvSpPr>
          <p:cNvPr id="16" name="Text 14"/>
          <p:cNvSpPr/>
          <p:nvPr/>
        </p:nvSpPr>
        <p:spPr>
          <a:xfrm>
            <a:off x="1042416" y="3319272"/>
            <a:ext cx="53766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 분석·정교한 손기술·고비용 구축은 한계</a:t>
            </a:r>
            <a:endParaRPr lang="en-US" sz="1720" dirty="0"/>
          </a:p>
        </p:txBody>
      </p:sp>
      <p:pic>
        <p:nvPicPr>
          <p:cNvPr id="17" name="Image 0" descr="/mnt/data/ai_trend_assets/robot_lab.png">    </p:cNvPr>
          <p:cNvPicPr>
            <a:picLocks noChangeAspect="1"/>
          </p:cNvPicPr>
          <p:nvPr/>
        </p:nvPicPr>
        <p:blipFill>
          <a:blip r:embed="rId1"/>
          <a:srcRect l="7165" r="7165" t="0" b="0"/>
          <a:stretch/>
        </p:blipFill>
        <p:spPr>
          <a:xfrm>
            <a:off x="6995160" y="1417320"/>
            <a:ext cx="4434840" cy="29718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995160" y="4489704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보고서 수록 이미지 기반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F9E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07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Silica: 초장기 유리 데이터 저장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09960" cy="0"/>
          </a:xfrm>
          <a:prstGeom prst="line">
            <a:avLst/>
          </a:prstGeom>
          <a:noFill/>
          <a:ln w="12700">
            <a:solidFill>
              <a:srgbClr val="D6DA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82528" y="6355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14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AI 정책·기술 동향 요약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49808" y="143560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2C6FB7"/>
                </a:solidFill>
              </a:rPr>
              <a:t>•</a:t>
            </a:r>
            <a:endParaRPr lang="en-US" sz="1720" dirty="0"/>
          </a:p>
        </p:txBody>
      </p:sp>
      <p:sp>
        <p:nvSpPr>
          <p:cNvPr id="8" name="Text 6"/>
          <p:cNvSpPr/>
          <p:nvPr/>
        </p:nvSpPr>
        <p:spPr>
          <a:xfrm>
            <a:off x="1042416" y="1417320"/>
            <a:ext cx="53766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붕규산 유리를 활용한 차세대 아카이빙 기술</a:t>
            </a:r>
            <a:endParaRPr lang="en-US" sz="1720" dirty="0"/>
          </a:p>
        </p:txBody>
      </p:sp>
      <p:sp>
        <p:nvSpPr>
          <p:cNvPr id="9" name="Text 7"/>
          <p:cNvSpPr/>
          <p:nvPr/>
        </p:nvSpPr>
        <p:spPr>
          <a:xfrm>
            <a:off x="749808" y="1911096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2C6FB7"/>
                </a:solidFill>
              </a:rPr>
              <a:t>•</a:t>
            </a:r>
            <a:endParaRPr lang="en-US" sz="1720" dirty="0"/>
          </a:p>
        </p:txBody>
      </p:sp>
      <p:sp>
        <p:nvSpPr>
          <p:cNvPr id="10" name="Text 8"/>
          <p:cNvSpPr/>
          <p:nvPr/>
        </p:nvSpPr>
        <p:spPr>
          <a:xfrm>
            <a:off x="1042416" y="1892808"/>
            <a:ext cx="53766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저장장치 대비 최소 1만 년 이상 보존 가능성 제시</a:t>
            </a:r>
            <a:endParaRPr lang="en-US" sz="1720" dirty="0"/>
          </a:p>
        </p:txBody>
      </p:sp>
      <p:sp>
        <p:nvSpPr>
          <p:cNvPr id="11" name="Text 9"/>
          <p:cNvSpPr/>
          <p:nvPr/>
        </p:nvSpPr>
        <p:spPr>
          <a:xfrm>
            <a:off x="749808" y="238658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2C6FB7"/>
                </a:solidFill>
              </a:rPr>
              <a:t>•</a:t>
            </a:r>
            <a:endParaRPr lang="en-US" sz="1720" dirty="0"/>
          </a:p>
        </p:txBody>
      </p:sp>
      <p:sp>
        <p:nvSpPr>
          <p:cNvPr id="12" name="Text 10"/>
          <p:cNvSpPr/>
          <p:nvPr/>
        </p:nvSpPr>
        <p:spPr>
          <a:xfrm>
            <a:off x="1042416" y="2368296"/>
            <a:ext cx="53766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펨토초 레이저와 머신러닝 기반 고밀도 기록·복원</a:t>
            </a:r>
            <a:endParaRPr lang="en-US" sz="1720" dirty="0"/>
          </a:p>
        </p:txBody>
      </p:sp>
      <p:sp>
        <p:nvSpPr>
          <p:cNvPr id="13" name="Text 11"/>
          <p:cNvSpPr/>
          <p:nvPr/>
        </p:nvSpPr>
        <p:spPr>
          <a:xfrm>
            <a:off x="749808" y="286207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2C6FB7"/>
                </a:solidFill>
              </a:rPr>
              <a:t>•</a:t>
            </a:r>
            <a:endParaRPr lang="en-US" sz="1720" dirty="0"/>
          </a:p>
        </p:txBody>
      </p:sp>
      <p:sp>
        <p:nvSpPr>
          <p:cNvPr id="14" name="Text 12"/>
          <p:cNvSpPr/>
          <p:nvPr/>
        </p:nvSpPr>
        <p:spPr>
          <a:xfrm>
            <a:off x="1042416" y="2843784"/>
            <a:ext cx="53766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12cm 유리판 1장에 약 4.8TB 데이터 저장 가능</a:t>
            </a:r>
            <a:endParaRPr lang="en-US" sz="1720" dirty="0"/>
          </a:p>
        </p:txBody>
      </p:sp>
      <p:sp>
        <p:nvSpPr>
          <p:cNvPr id="15" name="Text 13"/>
          <p:cNvSpPr/>
          <p:nvPr/>
        </p:nvSpPr>
        <p:spPr>
          <a:xfrm>
            <a:off x="749808" y="333756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2C6FB7"/>
                </a:solidFill>
              </a:rPr>
              <a:t>•</a:t>
            </a:r>
            <a:endParaRPr lang="en-US" sz="1720" dirty="0"/>
          </a:p>
        </p:txBody>
      </p:sp>
      <p:sp>
        <p:nvSpPr>
          <p:cNvPr id="16" name="Text 14"/>
          <p:cNvSpPr/>
          <p:nvPr/>
        </p:nvSpPr>
        <p:spPr>
          <a:xfrm>
            <a:off x="1042416" y="3319272"/>
            <a:ext cx="537667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WORM 방식으로 장기 보존에는 적합하나 빈번한 접근에는 부적합</a:t>
            </a:r>
            <a:endParaRPr lang="en-US" sz="1720" dirty="0"/>
          </a:p>
        </p:txBody>
      </p:sp>
      <p:pic>
        <p:nvPicPr>
          <p:cNvPr id="17" name="Image 0" descr="/mnt/data/ai_trend_assets/silica_glass.png">    </p:cNvPr>
          <p:cNvPicPr>
            <a:picLocks noChangeAspect="1"/>
          </p:cNvPicPr>
          <p:nvPr/>
        </p:nvPicPr>
        <p:blipFill>
          <a:blip r:embed="rId1"/>
          <a:srcRect l="11348" r="11348" t="0" b="0"/>
          <a:stretch/>
        </p:blipFill>
        <p:spPr>
          <a:xfrm>
            <a:off x="6995160" y="1417320"/>
            <a:ext cx="4434840" cy="29718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995160" y="4489704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보고서 수록 이미지 기반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" y="9601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2579F"/>
                </a:solidFill>
              </a:rPr>
              <a:t>PART Ⅲ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49808" y="187452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</a:rPr>
              <a:t>윤리 동향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68096" y="2706624"/>
            <a:ext cx="5120640" cy="0"/>
          </a:xfrm>
          <a:prstGeom prst="line">
            <a:avLst/>
          </a:prstGeom>
          <a:noFill/>
          <a:ln w="27940">
            <a:solidFill>
              <a:srgbClr val="92579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3063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</a:rPr>
              <a:t>사이버 위험, 도덕성 검증, 알고리즘 예측 통제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082528" y="6355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925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ETHICS 08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사이버 공격: 과장과 현실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09960" cy="0"/>
          </a:xfrm>
          <a:prstGeom prst="line">
            <a:avLst/>
          </a:prstGeom>
          <a:noFill/>
          <a:ln w="12700">
            <a:solidFill>
              <a:srgbClr val="D6DA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82528" y="6355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16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AI 정책·기술 동향 요약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" y="143560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1133856" y="1417320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자율형 AI 해커보다는 범죄 생산성 도구화가 현실적 위협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841248" y="196596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0" name="Text 8"/>
          <p:cNvSpPr/>
          <p:nvPr/>
        </p:nvSpPr>
        <p:spPr>
          <a:xfrm>
            <a:off x="1133856" y="1947672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스팸·피싱·딥페이크 사기의 진입 장벽과 공격 규모 확대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841248" y="249631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1133856" y="2478024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초보 해커도 AI로 악성코드 작성·디버깅·피싱 문안 생성 가능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841248" y="302666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4" name="Text 12"/>
          <p:cNvSpPr/>
          <p:nvPr/>
        </p:nvSpPr>
        <p:spPr>
          <a:xfrm>
            <a:off x="1133856" y="3008376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안전장치 우회가 쉬운 오픈소스 모델 악용 우려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841248" y="3557016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6" name="Text 14"/>
          <p:cNvSpPr/>
          <p:nvPr/>
        </p:nvSpPr>
        <p:spPr>
          <a:xfrm>
            <a:off x="1133856" y="3538728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보안 수칙과 AI 기반 방어 체계의 병행 필요</a:t>
            </a:r>
            <a:endParaRPr lang="en-US" sz="18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925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ETHICS 09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도덕성 평가: 표면 답변을 넘어선 검증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09960" cy="0"/>
          </a:xfrm>
          <a:prstGeom prst="line">
            <a:avLst/>
          </a:prstGeom>
          <a:noFill/>
          <a:ln w="12700">
            <a:solidFill>
              <a:srgbClr val="D6DA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82528" y="6355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17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AI 정책·기술 동향 요약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" y="143560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1133856" y="1417320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상담·의료 조언 등 인간 삶에 관여하면서 도덕성 검증 필요성 확대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841248" y="196596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0" name="Text 8"/>
          <p:cNvSpPr/>
          <p:nvPr/>
        </p:nvSpPr>
        <p:spPr>
          <a:xfrm>
            <a:off x="1133856" y="1947672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모델의 답변이 실제 도덕 추론인지 데이터 모방인지 불확실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841248" y="249631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1133856" y="2478024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압박에 동조하는 아부성 성향과 프롬프트 민감성 확인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841248" y="302666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4" name="Text 12"/>
          <p:cNvSpPr/>
          <p:nvPr/>
        </p:nvSpPr>
        <p:spPr>
          <a:xfrm>
            <a:off x="1133856" y="3008376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연쇄 사고 모니터링과 메커니즘적 해석 가능성 연구 필요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841248" y="3557016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6" name="Text 14"/>
          <p:cNvSpPr/>
          <p:nvPr/>
        </p:nvSpPr>
        <p:spPr>
          <a:xfrm>
            <a:off x="1133856" y="3538728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문화적 다원주의를 반영한 글로벌 도덕성 구현은 미해결 과제</a:t>
            </a:r>
            <a:endParaRPr lang="en-US" sz="18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9257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ETHICS 10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예측: 편의 도구인가, 사회 통제인가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09960" cy="0"/>
          </a:xfrm>
          <a:prstGeom prst="line">
            <a:avLst/>
          </a:prstGeom>
          <a:noFill/>
          <a:ln w="12700">
            <a:solidFill>
              <a:srgbClr val="D6DA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82528" y="6355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18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AI 정책·기술 동향 요약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" y="143560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1133856" y="1417320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기술이 개인 일상을 보이지 않게 통제하는 시스템으로 변모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841248" y="196596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0" name="Text 8"/>
          <p:cNvSpPr/>
          <p:nvPr/>
        </p:nvSpPr>
        <p:spPr>
          <a:xfrm>
            <a:off x="1133856" y="1947672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지도학습 기반 AI가 이윤 극대화 방향으로 설계될 가능성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841248" y="249631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1133856" y="2478024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데이터의 차별성으로 공정성 보정만으로는 한계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841248" y="302666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4" name="Text 12"/>
          <p:cNvSpPr/>
          <p:nvPr/>
        </p:nvSpPr>
        <p:spPr>
          <a:xfrm>
            <a:off x="1133856" y="3008376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예측은 단순 관측이 아니라 행동을 유도하는 명령으로 작동 가능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841248" y="3557016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6" name="Text 14"/>
          <p:cNvSpPr/>
          <p:nvPr/>
        </p:nvSpPr>
        <p:spPr>
          <a:xfrm>
            <a:off x="1133856" y="3538728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무비판적 수용보다 인간의 주체적 선택과 민주적 통제 필요</a:t>
            </a:r>
            <a:endParaRPr lang="en-US" sz="18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IMPLICATIONS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시사점: 정책·기술·윤리의 동시 대응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09960" cy="0"/>
          </a:xfrm>
          <a:prstGeom prst="line">
            <a:avLst/>
          </a:prstGeom>
          <a:noFill/>
          <a:ln w="12700">
            <a:solidFill>
              <a:srgbClr val="D6DA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82528" y="6355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19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AI 정책·기술 동향 요약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" y="143560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1133856" y="1417320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연구 생산성 확대에 맞춘 학술 검증 인프라 고도화 필요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841248" y="196596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0" name="Text 8"/>
          <p:cNvSpPr/>
          <p:nvPr/>
        </p:nvSpPr>
        <p:spPr>
          <a:xfrm>
            <a:off x="1133856" y="1947672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오픈소스 모델 확산에 따른 기술 주권·표준 경쟁 대응 필요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841248" y="249631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1133856" y="2478024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지원 발명·신약 개발 분야의 계약·IP 컴플라이언스 정비 필요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841248" y="302666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4" name="Text 12"/>
          <p:cNvSpPr/>
          <p:nvPr/>
        </p:nvSpPr>
        <p:spPr>
          <a:xfrm>
            <a:off x="1133856" y="3008376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연구·보안·윤리 평가에서 인간 참여형 검증 구조 유지 필요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841248" y="3557016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6" name="Text 14"/>
          <p:cNvSpPr/>
          <p:nvPr/>
        </p:nvSpPr>
        <p:spPr>
          <a:xfrm>
            <a:off x="1133856" y="3538728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예측과 자동화 의사결정에 대한 사회적 통제 장치 마련 필요</a:t>
            </a:r>
            <a:endParaRPr lang="en-US" sz="18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AI는 역량 확장과 통제 과제를 동시에 제기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09960" cy="0"/>
          </a:xfrm>
          <a:prstGeom prst="line">
            <a:avLst/>
          </a:prstGeom>
          <a:noFill/>
          <a:ln w="12700">
            <a:solidFill>
              <a:srgbClr val="D6DA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82528" y="6355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20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355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AI 정책·기술 동향 요약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" y="143560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1133856" y="1417320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연구·산업·사회 시스템의 효율을 빠르게 높이는 핵심 인프라로 부상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841248" y="196596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0" name="Text 8"/>
          <p:cNvSpPr/>
          <p:nvPr/>
        </p:nvSpPr>
        <p:spPr>
          <a:xfrm>
            <a:off x="1133856" y="1947672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 저품질 정보, 보안 위협, 법적 책임, 윤리 검증 문제를 확대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841248" y="249631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1133856" y="2478024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경쟁력은 “더 강한 모델”과 “더 정교한 거버넌스”의 결합에서 결정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841248" y="302666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4" name="Text 12"/>
          <p:cNvSpPr/>
          <p:nvPr/>
        </p:nvSpPr>
        <p:spPr>
          <a:xfrm>
            <a:off x="1133856" y="3008376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부문은 기술 수용과 위험 관리의 균형을 갖춘 대응 체계 구축 필요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841248" y="3557016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2C6FB7"/>
                </a:solidFill>
              </a:rPr>
              <a:t>•</a:t>
            </a:r>
            <a:endParaRPr lang="en-US" sz="1820" dirty="0"/>
          </a:p>
        </p:txBody>
      </p:sp>
      <p:sp>
        <p:nvSpPr>
          <p:cNvPr id="16" name="Text 14"/>
          <p:cNvSpPr/>
          <p:nvPr/>
        </p:nvSpPr>
        <p:spPr>
          <a:xfrm>
            <a:off x="1133856" y="3538728"/>
            <a:ext cx="100401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방향: 활용 역량 강화 · 검증 체계 확보 · 책임 있는 AI 거버넌스 확립</a:t>
            </a:r>
            <a:endParaRPr lang="en-US" sz="1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TREND 해외 AI 정책·기술 동향 조사</dc:title>
  <dc:subject>AI TREND 해외 AI 정책·기술 동향 조사 요약</dc:subject>
  <dc:creator>OpenAI</dc:creator>
  <cp:lastModifiedBy>OpenAI</cp:lastModifiedBy>
  <cp:revision>1</cp:revision>
  <dcterms:created xsi:type="dcterms:W3CDTF">2026-05-06T05:52:56Z</dcterms:created>
  <dcterms:modified xsi:type="dcterms:W3CDTF">2026-05-06T05:52:56Z</dcterms:modified>
</cp:coreProperties>
</file>